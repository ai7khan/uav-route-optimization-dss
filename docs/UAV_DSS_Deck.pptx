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latency (ms)</c:v>
                </c:pt>
              </c:strCache>
            </c:strRef>
          </c:tx>
          <c:spPr>
            <a:solidFill>
              <a:srgbClr val="4DA3FF">
                <a:alpha val="100000"/>
              </a:srgbClr>
            </a:solidFill>
            <a:effectLst/>
          </c:spPr>
          <c:invertIfNegative val="0"/>
          <c:dLbls>
            <c:numFmt formatCode="#,##0&quot; ms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E8EEF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A* every tick</c:v>
                  </c:pt>
                  <c:pt idx="1">
                    <c:v>Adaptive (ours)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1420</c:v>
                </c:pt>
                <c:pt idx="1">
                  <c:v>130</c:v>
                </c:pt>
              </c:numCache>
            </c:numRef>
          </c:val>
        </c:ser>
        <c:dLbls>
          <c:numFmt formatCode="#,##0&quot; ms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E8EEF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C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5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</c:v>
                </c:pt>
              </c:strCache>
            </c:strRef>
          </c:tx>
          <c:spPr>
            <a:solidFill>
              <a:srgbClr val="4DA3F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E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t+2 min</c:v>
                  </c:pt>
                  <c:pt idx="1">
                    <c:v>t+4 min</c:v>
                  </c:pt>
                  <c:pt idx="2">
                    <c:v>t+6 min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79</c:v>
                </c:pt>
                <c:pt idx="1">
                  <c:v>72</c:v>
                </c:pt>
                <c:pt idx="2">
                  <c:v>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Persistence</c:v>
                </c:pt>
              </c:strCache>
            </c:strRef>
          </c:tx>
          <c:spPr>
            <a:solidFill>
              <a:srgbClr val="3A4A6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E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t+2 min</c:v>
                  </c:pt>
                  <c:pt idx="1">
                    <c:v>t+4 min</c:v>
                  </c:pt>
                  <c:pt idx="2">
                    <c:v>t+6 min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78</c:v>
                </c:pt>
                <c:pt idx="1">
                  <c:v>63</c:v>
                </c:pt>
                <c:pt idx="2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E8EEF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0A4C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90A4C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support system that re-optimizes UAV routes in real time as weather and air-defense conditions change. All data simulated per the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A* every tick = 1420ms total; adaptive = 130ms → 10.9x. Continuous drift ticks are ~0ms via D* Lite incremental repair.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"/>
            <a:ext cx="310896" cy="310896"/>
          </a:xfrm>
          <a:prstGeom prst="rect">
            <a:avLst/>
          </a:prstGeom>
          <a:solidFill>
            <a:srgbClr val="1E2C49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877824"/>
            <a:ext cx="310896" cy="310896"/>
          </a:xfrm>
          <a:prstGeom prst="rect">
            <a:avLst/>
          </a:prstGeom>
          <a:solidFill>
            <a:srgbClr val="1E2C49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298448"/>
            <a:ext cx="310896" cy="310896"/>
          </a:xfrm>
          <a:prstGeom prst="rect">
            <a:avLst/>
          </a:prstGeom>
          <a:solidFill>
            <a:srgbClr val="1E2C49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13264" y="457200"/>
            <a:ext cx="310896" cy="310896"/>
          </a:xfrm>
          <a:prstGeom prst="rect">
            <a:avLst/>
          </a:prstGeom>
          <a:solidFill>
            <a:srgbClr val="1E2C49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13264" y="877824"/>
            <a:ext cx="310896" cy="310896"/>
          </a:xfrm>
          <a:prstGeom prst="rect">
            <a:avLst/>
          </a:prstGeom>
          <a:solidFill>
            <a:srgbClr val="1E2C49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13264" y="1298448"/>
            <a:ext cx="310896" cy="310896"/>
          </a:xfrm>
          <a:prstGeom prst="rect">
            <a:avLst/>
          </a:prstGeom>
          <a:solidFill>
            <a:srgbClr val="1E2C49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33888" y="457200"/>
            <a:ext cx="310896" cy="310896"/>
          </a:xfrm>
          <a:prstGeom prst="rect">
            <a:avLst/>
          </a:prstGeom>
          <a:solidFill>
            <a:srgbClr val="1E2C49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33888" y="877824"/>
            <a:ext cx="310896" cy="310896"/>
          </a:xfrm>
          <a:prstGeom prst="rect">
            <a:avLst/>
          </a:prstGeom>
          <a:solidFill>
            <a:srgbClr val="1E2C49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33888" y="1298448"/>
            <a:ext cx="310896" cy="310896"/>
          </a:xfrm>
          <a:prstGeom prst="rect">
            <a:avLst/>
          </a:prstGeom>
          <a:solidFill>
            <a:srgbClr val="1E2C49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54512" y="457200"/>
            <a:ext cx="310896" cy="310896"/>
          </a:xfrm>
          <a:prstGeom prst="rect">
            <a:avLst/>
          </a:prstGeom>
          <a:solidFill>
            <a:srgbClr val="1E2C49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54512" y="877824"/>
            <a:ext cx="310896" cy="310896"/>
          </a:xfrm>
          <a:prstGeom prst="rect">
            <a:avLst/>
          </a:prstGeom>
          <a:solidFill>
            <a:srgbClr val="1E2C49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54512" y="1298448"/>
            <a:ext cx="310896" cy="310896"/>
          </a:xfrm>
          <a:prstGeom prst="rect">
            <a:avLst/>
          </a:prstGeom>
          <a:solidFill>
            <a:srgbClr val="1E2C49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75136" y="457200"/>
            <a:ext cx="310896" cy="310896"/>
          </a:xfrm>
          <a:prstGeom prst="rect">
            <a:avLst/>
          </a:prstGeom>
          <a:solidFill>
            <a:srgbClr val="1E2C49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75136" y="877824"/>
            <a:ext cx="310896" cy="310896"/>
          </a:xfrm>
          <a:prstGeom prst="rect">
            <a:avLst/>
          </a:prstGeom>
          <a:solidFill>
            <a:srgbClr val="1E2C49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75136" y="1298448"/>
            <a:ext cx="310896" cy="310896"/>
          </a:xfrm>
          <a:prstGeom prst="rect">
            <a:avLst/>
          </a:prstGeom>
          <a:solidFill>
            <a:srgbClr val="1E2C49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95760" y="457200"/>
            <a:ext cx="310896" cy="310896"/>
          </a:xfrm>
          <a:prstGeom prst="rect">
            <a:avLst/>
          </a:prstGeom>
          <a:solidFill>
            <a:srgbClr val="1E2C49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95760" y="877824"/>
            <a:ext cx="310896" cy="310896"/>
          </a:xfrm>
          <a:prstGeom prst="rect">
            <a:avLst/>
          </a:prstGeom>
          <a:solidFill>
            <a:srgbClr val="1E2C49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95760" y="1298448"/>
            <a:ext cx="310896" cy="310896"/>
          </a:xfrm>
          <a:prstGeom prst="rect">
            <a:avLst/>
          </a:prstGeom>
          <a:solidFill>
            <a:srgbClr val="1E2C49"/>
          </a:solidFill>
          <a:ln w="6350">
            <a:solidFill>
              <a:srgbClr val="2A3A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DEFENSE-TECH HACKATHON · PROBLEM 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19202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UAV Route Optimization DSS</a:t>
            </a:r>
            <a:endParaRPr lang="en-US" sz="5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route planning under </a:t>
            </a:r>
            <a:pPr indent="0" marL="0">
              <a:buNone/>
            </a:pPr>
            <a:r>
              <a:rPr lang="en-US" sz="22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weather</a:t>
            </a:r>
            <a:pPr indent="0" marL="0">
              <a:buNone/>
            </a:pPr>
            <a:r>
              <a:rPr lang="en-US" sz="2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2200" b="1" dirty="0">
                <a:solidFill>
                  <a:srgbClr val="FF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air-defense activity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22960" y="411480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097280" y="4297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10.9×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9560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replan latency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34840" y="411480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709160" y="4297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3D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-39%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49560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 RMSE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46720" y="4114800"/>
            <a:ext cx="3291840" cy="1371600"/>
          </a:xfrm>
          <a:prstGeom prst="roundRect">
            <a:avLst>
              <a:gd name="adj" fmla="val 6000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321040" y="4297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 pts</a:t>
            </a:r>
            <a:endParaRPr lang="en-US" sz="34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49560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AD-activity prediction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· 21 passing tests · runs from one command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plans fail against a dynamic battlefield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1234440"/>
          </a:xfrm>
          <a:prstGeom prst="roundRect">
            <a:avLst>
              <a:gd name="adj" fmla="val 6667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139696"/>
            <a:ext cx="603504" cy="603504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13969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202996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changes in flight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432304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Wind, low visibility and precipitation shift the safe corridor and burn fuel — but pre-set routes ignore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10515600" cy="1234440"/>
          </a:xfrm>
          <a:prstGeom prst="roundRect">
            <a:avLst>
              <a:gd name="adj" fmla="val 6667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3557016"/>
            <a:ext cx="603504" cy="603504"/>
          </a:xfrm>
          <a:prstGeom prst="ellipse">
            <a:avLst/>
          </a:prstGeom>
          <a:solidFill>
            <a:srgbClr val="FF5D5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355701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344728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defense switches on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3849624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SAM/radar sites illuminate intermittently. A route that was safe at takeoff can fly straight into a live threat.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663440"/>
            <a:ext cx="10515600" cy="1234440"/>
          </a:xfrm>
          <a:prstGeom prst="roundRect">
            <a:avLst>
              <a:gd name="adj" fmla="val 6667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0" y="4974336"/>
            <a:ext cx="603504" cy="603504"/>
          </a:xfrm>
          <a:prstGeom prst="ellipse">
            <a:avLst/>
          </a:prstGeom>
          <a:solidFill>
            <a:srgbClr val="4DA3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497433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486460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are computed once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5266944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planners fix a route on pre-set parameters and never re-optimize — raising detection and loss risk.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minimize detection risk while meeting time, fuel and altitude constraints — continuously.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five-stage real-time decision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993392" cy="2377440"/>
          </a:xfrm>
          <a:prstGeom prst="roundRect">
            <a:avLst>
              <a:gd name="adj" fmla="val 4128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7904" y="2286000"/>
            <a:ext cx="603504" cy="603504"/>
          </a:xfrm>
          <a:prstGeom prst="ellipse">
            <a:avLst/>
          </a:prstGeom>
          <a:solidFill>
            <a:srgbClr val="33D17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17904" y="22860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42900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fields + air-defense sites + UAV telemetry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25496" y="3200400"/>
            <a:ext cx="164592" cy="0"/>
          </a:xfrm>
          <a:prstGeom prst="line">
            <a:avLst/>
          </a:prstGeom>
          <a:noFill/>
          <a:ln w="25400">
            <a:solidFill>
              <a:srgbClr val="4DA3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99232" y="2011680"/>
            <a:ext cx="1993392" cy="2377440"/>
          </a:xfrm>
          <a:prstGeom prst="roundRect">
            <a:avLst>
              <a:gd name="adj" fmla="val 4128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94176" y="2286000"/>
            <a:ext cx="603504" cy="603504"/>
          </a:xfrm>
          <a:prstGeom prst="ellipse">
            <a:avLst/>
          </a:prstGeom>
          <a:solidFill>
            <a:srgbClr val="4DA3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94176" y="22860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090672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136392" y="342900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ML predicts weather &amp; threats 6 min ahead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01768" y="3200400"/>
            <a:ext cx="164592" cy="0"/>
          </a:xfrm>
          <a:prstGeom prst="line">
            <a:avLst/>
          </a:prstGeom>
          <a:noFill/>
          <a:ln w="25400">
            <a:solidFill>
              <a:srgbClr val="4DA3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75504" y="2011680"/>
            <a:ext cx="1993392" cy="2377440"/>
          </a:xfrm>
          <a:prstGeom prst="roundRect">
            <a:avLst>
              <a:gd name="adj" fmla="val 4128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70448" y="2286000"/>
            <a:ext cx="603504" cy="603504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70448" y="22860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266944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risk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312664" y="342900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probability + weather hazard cost field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78040" y="3200400"/>
            <a:ext cx="164592" cy="0"/>
          </a:xfrm>
          <a:prstGeom prst="line">
            <a:avLst/>
          </a:prstGeom>
          <a:noFill/>
          <a:ln w="25400">
            <a:solidFill>
              <a:srgbClr val="4DA3F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51776" y="2011680"/>
            <a:ext cx="1993392" cy="2377440"/>
          </a:xfrm>
          <a:prstGeom prst="roundRect">
            <a:avLst>
              <a:gd name="adj" fmla="val 4128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0" y="2286000"/>
            <a:ext cx="603504" cy="603504"/>
          </a:xfrm>
          <a:prstGeom prst="ellipse">
            <a:avLst/>
          </a:prstGeom>
          <a:solidFill>
            <a:srgbClr val="FF5D5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0" y="22860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443216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88936" y="342900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A* / D* Lite, multi-objective weights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354312" y="3200400"/>
            <a:ext cx="164592" cy="0"/>
          </a:xfrm>
          <a:prstGeom prst="line">
            <a:avLst/>
          </a:prstGeom>
          <a:noFill/>
          <a:ln w="25400">
            <a:solidFill>
              <a:srgbClr val="4DA3F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528048" y="2011680"/>
            <a:ext cx="1993392" cy="2377440"/>
          </a:xfrm>
          <a:prstGeom prst="roundRect">
            <a:avLst>
              <a:gd name="adj" fmla="val 4128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22992" y="2286000"/>
            <a:ext cx="603504" cy="603504"/>
          </a:xfrm>
          <a:prstGeom prst="ellipse">
            <a:avLst/>
          </a:prstGeom>
          <a:solidFill>
            <a:srgbClr val="4DA3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222992" y="22860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9619488" y="30175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665208" y="342900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operator dashboard, routes &amp; risk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489204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1E2C49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1097280" y="5074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wins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97280" y="5440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planners run A* once. Ours re-optimizes every tick — </a:t>
            </a:r>
            <a:pPr indent="0" marL="0">
              <a:buNone/>
            </a:pPr>
            <a:r>
              <a:rPr lang="en-US" sz="15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D* Lite repairs the plan in ~0 ms as conditions drift</a:t>
            </a:r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the ML forecast lets the UAV avoid a SAM </a:t>
            </a:r>
            <a:pPr indent="0" marL="0">
              <a:buNone/>
            </a:pPr>
            <a:r>
              <a:rPr lang="en-US" sz="1500" b="1" dirty="0">
                <a:solidFill>
                  <a:srgbClr val="33D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 even activates.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· REAL-TIME RE-PLANNING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A* / D* Lite: replan for free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943600" cy="4480560"/>
          </a:xfrm>
          <a:prstGeom prst="roundRect">
            <a:avLst>
              <a:gd name="adj" fmla="val 1837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Operator-facing replan latency (10-tick mission)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914400" y="2468880"/>
          <a:ext cx="57607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040880" y="1828800"/>
            <a:ext cx="4297680" cy="1097280"/>
          </a:xfrm>
          <a:prstGeom prst="roundRect">
            <a:avLst>
              <a:gd name="adj" fmla="val 7500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296912" y="2084832"/>
            <a:ext cx="146304" cy="146304"/>
          </a:xfrm>
          <a:prstGeom prst="ellipse">
            <a:avLst/>
          </a:prstGeom>
          <a:solidFill>
            <a:srgbClr val="33D17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43800" y="1993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drift (weather)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2377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D* Lite repairs only affected cells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0241280" y="21031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33D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 ms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040880" y="3063240"/>
            <a:ext cx="4297680" cy="1097280"/>
          </a:xfrm>
          <a:prstGeom prst="roundRect">
            <a:avLst>
              <a:gd name="adj" fmla="val 7500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296912" y="3319272"/>
            <a:ext cx="146304" cy="146304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543800" y="3227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event (SAM pop-up)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543800" y="3611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A* replan, D* Lite re-warms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241280" y="3337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~130 ms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040880" y="4343400"/>
            <a:ext cx="4297680" cy="1965960"/>
          </a:xfrm>
          <a:prstGeom prst="roundRect">
            <a:avLst>
              <a:gd name="adj" fmla="val 4186"/>
            </a:avLst>
          </a:prstGeom>
          <a:solidFill>
            <a:srgbClr val="1E2C49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296912" y="4526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Correctness, not just speed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296912" y="49377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D* Lite is proven to return the </a:t>
            </a:r>
            <a:pPr indent="0" marL="0">
              <a:buNone/>
            </a:pPr>
            <a:r>
              <a:rPr lang="en-US" sz="1400" b="1" dirty="0">
                <a:solidFill>
                  <a:srgbClr val="33D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optimal cost as A*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(unit-tested). The planner adaptively picks the cheaper strategy each tick — honest engineering, not a one-size claim.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ACCURACY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trained models, beaten baselines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074920" cy="4480560"/>
          </a:xfrm>
          <a:prstGeom prst="roundRect">
            <a:avLst>
              <a:gd name="adj" fmla="val 1837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nowcaster — PyTorch CNN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377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weather field 6 minutes ahead; learns the front's advection.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0632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33D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39.4%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RMSE than persistence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4617720"/>
            <a:ext cx="457200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(model)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4754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0.029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5212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(persistence)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5212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0.049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5669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on CPU in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5669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 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5212080" cy="4480560"/>
          </a:xfrm>
          <a:prstGeom prst="roundRect">
            <a:avLst>
              <a:gd name="adj" fmla="val 1837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Air-defense activity — sklearn GBM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377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which SAM emits next; gain over persistence grows with horizon.</a:t>
            </a:r>
            <a:endParaRPr lang="en-US" sz="13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263640" y="292608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6400800" y="5943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 pts accuracy · AUC 0.79 at 6-minute horizon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EFFICIENCY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Risk-aware routing around live threats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6400800" cy="4480560"/>
          </a:xfrm>
          <a:prstGeom prst="roundRect">
            <a:avLst>
              <a:gd name="adj" fmla="val 1837"/>
            </a:avLst>
          </a:prstGeom>
          <a:solidFill>
            <a:srgbClr val="0E1A30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3017520"/>
            <a:ext cx="2377440" cy="2377440"/>
          </a:xfrm>
          <a:prstGeom prst="ellipse">
            <a:avLst/>
          </a:prstGeom>
          <a:solidFill>
            <a:srgbClr val="FF5D5D">
              <a:alpha val="18000"/>
            </a:srgbClr>
          </a:solidFill>
          <a:ln w="19050">
            <a:solidFill>
              <a:srgbClr val="FF5D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4846320"/>
            <a:ext cx="1280160" cy="1280160"/>
          </a:xfrm>
          <a:prstGeom prst="ellipse">
            <a:avLst/>
          </a:prstGeom>
          <a:solidFill>
            <a:srgbClr val="FF5D5D">
              <a:alpha val="18000"/>
            </a:srgbClr>
          </a:solidFill>
          <a:ln w="19050">
            <a:solidFill>
              <a:srgbClr val="FF5D5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89120" y="4069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(active)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flipH="1">
            <a:off x="1463040" y="4206240"/>
            <a:ext cx="274320" cy="1554480"/>
          </a:xfrm>
          <a:prstGeom prst="line">
            <a:avLst/>
          </a:prstGeom>
          <a:noFill/>
          <a:ln w="38100">
            <a:solidFill>
              <a:srgbClr val="33D171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 flipH="1">
            <a:off x="1737360" y="2743200"/>
            <a:ext cx="1188720" cy="1463040"/>
          </a:xfrm>
          <a:prstGeom prst="line">
            <a:avLst/>
          </a:prstGeom>
          <a:noFill/>
          <a:ln w="38100">
            <a:solidFill>
              <a:srgbClr val="33D171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H="1">
            <a:off x="2926080" y="2377440"/>
            <a:ext cx="2103120" cy="365760"/>
          </a:xfrm>
          <a:prstGeom prst="line">
            <a:avLst/>
          </a:prstGeom>
          <a:noFill/>
          <a:ln w="38100">
            <a:solidFill>
              <a:srgbClr val="33D171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029200" y="2377440"/>
            <a:ext cx="1554480" cy="91440"/>
          </a:xfrm>
          <a:prstGeom prst="line">
            <a:avLst/>
          </a:prstGeom>
          <a:noFill/>
          <a:ln w="38100">
            <a:solidFill>
              <a:srgbClr val="33D17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362456" y="5660136"/>
            <a:ext cx="201168" cy="201168"/>
          </a:xfrm>
          <a:prstGeom prst="ellipse">
            <a:avLst/>
          </a:prstGeom>
          <a:solidFill>
            <a:srgbClr val="33D17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80160" y="58704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83096" y="2368296"/>
            <a:ext cx="201168" cy="201168"/>
          </a:xfrm>
          <a:prstGeom prst="ellipse">
            <a:avLst/>
          </a:prstGeom>
          <a:solidFill>
            <a:srgbClr val="4DA3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897880" y="21031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18288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sets priorities; the optimizer returns three routes: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98080" y="2798064"/>
            <a:ext cx="457200" cy="0"/>
          </a:xfrm>
          <a:prstGeom prst="line">
            <a:avLst/>
          </a:prstGeom>
          <a:noFill/>
          <a:ln w="38100">
            <a:solidFill>
              <a:srgbClr val="4DA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weights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98080" y="3364992"/>
            <a:ext cx="457200" cy="0"/>
          </a:xfrm>
          <a:prstGeom prst="line">
            <a:avLst/>
          </a:prstGeom>
          <a:noFill/>
          <a:ln w="38100">
            <a:solidFill>
              <a:srgbClr val="33D171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8046720" y="32186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Safest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2186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safety-heavy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3931920"/>
            <a:ext cx="457200" cy="0"/>
          </a:xfrm>
          <a:prstGeom prst="line">
            <a:avLst/>
          </a:prstGeom>
          <a:noFill/>
          <a:ln w="38100">
            <a:solidFill>
              <a:srgbClr val="F5B942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8046720" y="378561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37856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time-heavy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98080" y="4572000"/>
            <a:ext cx="3840480" cy="1737360"/>
          </a:xfrm>
          <a:prstGeom prst="roundRect">
            <a:avLst>
              <a:gd name="adj" fmla="val 4737"/>
            </a:avLst>
          </a:prstGeom>
          <a:solidFill>
            <a:srgbClr val="1E2C49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726680" y="4709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route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726680" y="5074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detection risk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0" y="5074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3D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726680" y="54589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time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0" y="54589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min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726680" y="584301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risk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0" y="584301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686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stack &amp; security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291840" cy="2834640"/>
          </a:xfrm>
          <a:prstGeom prst="roundRect">
            <a:avLst>
              <a:gd name="adj" fmla="val 2903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0574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4DA3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15568" y="2798064"/>
            <a:ext cx="91440" cy="91440"/>
          </a:xfrm>
          <a:prstGeom prst="ellipse">
            <a:avLst/>
          </a:prstGeom>
          <a:solidFill>
            <a:srgbClr val="4DA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25880" y="2743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+ WebSocket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115568" y="3255264"/>
            <a:ext cx="91440" cy="91440"/>
          </a:xfrm>
          <a:prstGeom prst="ellipse">
            <a:avLst/>
          </a:prstGeom>
          <a:solidFill>
            <a:srgbClr val="4DA3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25880" y="3200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vectorized cost field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15568" y="3712464"/>
            <a:ext cx="91440" cy="91440"/>
          </a:xfrm>
          <a:prstGeom prst="ellipse">
            <a:avLst/>
          </a:prstGeom>
          <a:solidFill>
            <a:srgbClr val="4DA3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25880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live missions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115568" y="4169664"/>
            <a:ext cx="91440" cy="91440"/>
          </a:xfrm>
          <a:prstGeom prst="ellipse">
            <a:avLst/>
          </a:prstGeom>
          <a:solidFill>
            <a:srgbClr val="4DA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25880" y="4114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shardable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89120" y="1828800"/>
            <a:ext cx="3291840" cy="2834640"/>
          </a:xfrm>
          <a:prstGeom prst="roundRect">
            <a:avLst>
              <a:gd name="adj" fmla="val 2903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0574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33D17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6344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1728" y="2798064"/>
            <a:ext cx="91440" cy="91440"/>
          </a:xfrm>
          <a:prstGeom prst="ellipse">
            <a:avLst/>
          </a:prstGeom>
          <a:solidFill>
            <a:srgbClr val="33D17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92040" y="2743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CNN nowcaster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81728" y="3255264"/>
            <a:ext cx="91440" cy="91440"/>
          </a:xfrm>
          <a:prstGeom prst="ellipse">
            <a:avLst/>
          </a:prstGeom>
          <a:solidFill>
            <a:srgbClr val="33D17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92040" y="3200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GBM classifier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81728" y="3712464"/>
            <a:ext cx="91440" cy="91440"/>
          </a:xfrm>
          <a:prstGeom prst="ellipse">
            <a:avLst/>
          </a:prstGeom>
          <a:solidFill>
            <a:srgbClr val="33D17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92040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+ D* Lite optimizer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81728" y="4169664"/>
            <a:ext cx="91440" cy="91440"/>
          </a:xfrm>
          <a:prstGeom prst="ellipse">
            <a:avLst/>
          </a:prstGeom>
          <a:solidFill>
            <a:srgbClr val="33D17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92040" y="4114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weighting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955280" y="1828800"/>
            <a:ext cx="3291840" cy="2834640"/>
          </a:xfrm>
          <a:prstGeom prst="roundRect">
            <a:avLst>
              <a:gd name="adj" fmla="val 2903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20574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F5B94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47888" y="2798064"/>
            <a:ext cx="91440" cy="91440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58200" y="27432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operator dashboard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247888" y="3255264"/>
            <a:ext cx="91440" cy="91440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458200" y="3200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heatmap + threat rings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247888" y="3712464"/>
            <a:ext cx="91440" cy="91440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458200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sliders, live clock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247888" y="4169664"/>
            <a:ext cx="91440" cy="91440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458200" y="4114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Zero-build, one command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22960" y="489204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1E2C49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1097280" y="5074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(brief §7)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097280" y="5440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097280" y="5760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operator credential (PBKDF2)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526280" y="5440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 / Fernet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4526280" y="5760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of stored scenarios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955280" y="5440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Env-var secrets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955280" y="5760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plaintext keys in code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· MAPPED TO JUDGING CRITERIA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058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complete, working prototype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992" y="2487168"/>
            <a:ext cx="146304" cy="146304"/>
          </a:xfrm>
          <a:prstGeom prst="ellipse">
            <a:avLst/>
          </a:prstGeom>
          <a:solidFill>
            <a:srgbClr val="33D17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22219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accuracy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578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-39% weather RMSE · +22 pts AD (AUC 0.79)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103120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28232" y="2487168"/>
            <a:ext cx="146304" cy="146304"/>
          </a:xfrm>
          <a:prstGeom prst="ellipse">
            <a:avLst/>
          </a:prstGeom>
          <a:solidFill>
            <a:srgbClr val="4DA3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22219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efficiency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578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/ fuel / risk per route; detours keep risk ~7%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8992" y="3538728"/>
            <a:ext cx="146304" cy="146304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25880" y="32735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6301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D* Lite + ML pre-emptive avoidance · 10.9×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154680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3538728"/>
            <a:ext cx="146304" cy="146304"/>
          </a:xfrm>
          <a:prstGeom prst="ellipse">
            <a:avLst/>
          </a:prstGeom>
          <a:solidFill>
            <a:srgbClr val="4DA3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32735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36301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command-center dashboard, one command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4206240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78992" y="4590288"/>
            <a:ext cx="146304" cy="146304"/>
          </a:xfrm>
          <a:prstGeom prst="ellipse">
            <a:avLst/>
          </a:prstGeom>
          <a:solidFill>
            <a:srgbClr val="33D17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325880" y="43251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6817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+ architecture doc + 21 passing tests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4206240"/>
            <a:ext cx="5074920" cy="914400"/>
          </a:xfrm>
          <a:prstGeom prst="roundRect">
            <a:avLst>
              <a:gd name="adj" fmla="val 9000"/>
            </a:avLst>
          </a:prstGeom>
          <a:solidFill>
            <a:srgbClr val="16223A"/>
          </a:solidFill>
          <a:ln w="12700">
            <a:solidFill>
              <a:srgbClr val="2A3A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28232" y="4590288"/>
            <a:ext cx="146304" cy="146304"/>
          </a:xfrm>
          <a:prstGeom prst="ellipse">
            <a:avLst/>
          </a:prstGeom>
          <a:solidFill>
            <a:srgbClr val="4DA3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75120" y="43251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46817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0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 · vectorized · O(cells) optimizer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feeds → trained forecasts → risk field → adaptive optimizer → operator dashboard.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A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uvicorn backend.api.main:app  →  http://localhost:8017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2026-09-19T18:05:02Z</dcterms:created>
  <dcterms:modified xsi:type="dcterms:W3CDTF">2026-09-19T18:05:02Z</dcterms:modified>
</cp:coreProperties>
</file>