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latency (ms)</c:v>
                </c:pt>
              </c:strCache>
            </c:strRef>
          </c:tx>
          <c:spPr>
            <a:solidFill>
              <a:srgbClr val="4DA3FF">
                <a:alpha val="100000"/>
              </a:srgbClr>
            </a:solidFill>
            <a:effectLst/>
          </c:spPr>
          <c:invertIfNegative val="0"/>
          <c:dLbls>
            <c:numFmt formatCode="#,##0&quot; ms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E8EEF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A* every tick</c:v>
                  </c:pt>
                  <c:pt idx="1">
                    <c:v>Adaptive (ours)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1420</c:v>
                </c:pt>
                <c:pt idx="1">
                  <c:v>130</c:v>
                </c:pt>
              </c:numCache>
            </c:numRef>
          </c:val>
        </c:ser>
        <c:dLbls>
          <c:numFmt formatCode="#,##0&quot; ms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E8EEF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0A4C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5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Model</c:v>
                </c:pt>
              </c:strCache>
            </c:strRef>
          </c:tx>
          <c:spPr>
            <a:solidFill>
              <a:srgbClr val="4DA3F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8EEF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t+2 min</c:v>
                  </c:pt>
                  <c:pt idx="1">
                    <c:v>t+4 min</c:v>
                  </c:pt>
                  <c:pt idx="2">
                    <c:v>t+6 min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79</c:v>
                </c:pt>
                <c:pt idx="1">
                  <c:v>72</c:v>
                </c:pt>
                <c:pt idx="2">
                  <c:v>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Persistence</c:v>
                </c:pt>
              </c:strCache>
            </c:strRef>
          </c:tx>
          <c:spPr>
            <a:solidFill>
              <a:srgbClr val="3A4A6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E8EEF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t+2 min</c:v>
                  </c:pt>
                  <c:pt idx="1">
                    <c:v>t+4 min</c:v>
                  </c:pt>
                  <c:pt idx="2">
                    <c:v>t+6 min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78</c:v>
                </c:pt>
                <c:pt idx="1">
                  <c:v>63</c:v>
                </c:pt>
                <c:pt idx="2">
                  <c:v>50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E8EEF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0A4C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90A4C4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Decision support system that re-optimizes UAV routes in real time as weather and air-defense conditions change. All data simulated per the 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A* every tick = 1420ms total; adaptive = 130ms → 10.9x. Continuous drift ticks are ~0ms via D* Lite incremental repair.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57200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877824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92640" y="1298448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13264" y="457200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13264" y="877824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113264" y="1298448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33888" y="457200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33888" y="877824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33888" y="1298448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54512" y="457200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54512" y="877824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954512" y="1298448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375136" y="457200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375136" y="877824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375136" y="1298448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795760" y="457200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795760" y="877824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795760" y="1298448"/>
            <a:ext cx="310896" cy="310896"/>
          </a:xfrm>
          <a:prstGeom prst="rect">
            <a:avLst/>
          </a:prstGeom>
          <a:solidFill>
            <a:srgbClr val="1E2C49"/>
          </a:solidFill>
          <a:ln w="6350">
            <a:solidFill>
              <a:srgbClr val="2A3A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DEFENSE-TECH HACKATHON · PROBLEM 8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192024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UAV Route Optimization DSS</a:t>
            </a:r>
            <a:endParaRPr lang="en-US" sz="52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3200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route planning under </a:t>
            </a:r>
            <a:pPr indent="0" marL="0">
              <a:buNone/>
            </a:pPr>
            <a:r>
              <a:rPr lang="en-US" sz="2200" b="1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weather</a:t>
            </a:r>
            <a:pPr indent="0" marL="0">
              <a:buNone/>
            </a:pPr>
            <a:r>
              <a:rPr lang="en-US" sz="2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2200" b="1" dirty="0">
                <a:solidFill>
                  <a:srgbClr val="FF5D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air-defense activity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822960" y="41148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1097280" y="42976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10.9×</a:t>
            </a:r>
            <a:endParaRPr lang="en-US" sz="34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49560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replan latency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434840" y="41148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4709160" y="42976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3D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-39%</a:t>
            </a:r>
            <a:endParaRPr lang="en-US" sz="3400" dirty="0"/>
          </a:p>
        </p:txBody>
      </p:sp>
      <p:sp>
        <p:nvSpPr>
          <p:cNvPr id="28" name="Text 26"/>
          <p:cNvSpPr txBox="1"/>
          <p:nvPr/>
        </p:nvSpPr>
        <p:spPr>
          <a:xfrm>
            <a:off x="4709160" y="49560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forecast RMSE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046720" y="41148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8321040" y="42976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+22 pts</a:t>
            </a:r>
            <a:endParaRPr lang="en-US" sz="34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49560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AD-activity prediction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· 27 passing tests · runs from one command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plans fail against a dynamic battlefield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10515600" cy="1234440"/>
          </a:xfrm>
          <a:prstGeom prst="roundRect">
            <a:avLst>
              <a:gd name="adj" fmla="val 6667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7280" y="2139696"/>
            <a:ext cx="603504" cy="603504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213969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965960" y="2029968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 changes in flight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2432304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Wind, low visibility and precipitation shift the safe corridor and burn fuel — but pre-set routes ignore it.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246120"/>
            <a:ext cx="10515600" cy="1234440"/>
          </a:xfrm>
          <a:prstGeom prst="roundRect">
            <a:avLst>
              <a:gd name="adj" fmla="val 6667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97280" y="3557016"/>
            <a:ext cx="603504" cy="603504"/>
          </a:xfrm>
          <a:prstGeom prst="ellipse">
            <a:avLst/>
          </a:prstGeom>
          <a:solidFill>
            <a:srgbClr val="FF5D5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97280" y="355701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965960" y="3447288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 defense switches on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965960" y="3849624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SAM/radar sites illuminate intermittently. A route that was safe at takeoff can fly straight into a live threat.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4663440"/>
            <a:ext cx="10515600" cy="1234440"/>
          </a:xfrm>
          <a:prstGeom prst="roundRect">
            <a:avLst>
              <a:gd name="adj" fmla="val 6667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97280" y="4974336"/>
            <a:ext cx="603504" cy="603504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97280" y="497433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1×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965960" y="4864608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Plans are computed once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965960" y="5266944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planners fix a route on pre-set parameters and never re-optimize — raising detection and loss risk.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minimize detection risk while meeting time, fuel and altitude constraints — continuously.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five-stage real-time decision pipeline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1993392" cy="2377440"/>
          </a:xfrm>
          <a:prstGeom prst="roundRect">
            <a:avLst>
              <a:gd name="adj" fmla="val 4128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17904" y="2286000"/>
            <a:ext cx="603504" cy="603504"/>
          </a:xfrm>
          <a:prstGeom prst="ellipse">
            <a:avLst/>
          </a:prstGeom>
          <a:solidFill>
            <a:srgbClr val="33D17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517904" y="22860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01752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42900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fields + air-defense sites + UAV telemetry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25496" y="3200400"/>
            <a:ext cx="164592" cy="0"/>
          </a:xfrm>
          <a:prstGeom prst="line">
            <a:avLst/>
          </a:prstGeom>
          <a:noFill/>
          <a:ln w="25400">
            <a:solidFill>
              <a:srgbClr val="4DA3F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999232" y="2011680"/>
            <a:ext cx="1993392" cy="2377440"/>
          </a:xfrm>
          <a:prstGeom prst="roundRect">
            <a:avLst>
              <a:gd name="adj" fmla="val 4128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94176" y="2286000"/>
            <a:ext cx="603504" cy="603504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94176" y="22860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090672" y="301752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136392" y="342900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ML predicts weather &amp; threats 6 min ahead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01768" y="3200400"/>
            <a:ext cx="164592" cy="0"/>
          </a:xfrm>
          <a:prstGeom prst="line">
            <a:avLst/>
          </a:prstGeom>
          <a:noFill/>
          <a:ln w="25400">
            <a:solidFill>
              <a:srgbClr val="4DA3FF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175504" y="2011680"/>
            <a:ext cx="1993392" cy="2377440"/>
          </a:xfrm>
          <a:prstGeom prst="roundRect">
            <a:avLst>
              <a:gd name="adj" fmla="val 4128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870448" y="2286000"/>
            <a:ext cx="603504" cy="603504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870448" y="22860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5266944" y="301752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risk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312664" y="342900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probability + weather hazard cost field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178040" y="3200400"/>
            <a:ext cx="164592" cy="0"/>
          </a:xfrm>
          <a:prstGeom prst="line">
            <a:avLst/>
          </a:prstGeom>
          <a:noFill/>
          <a:ln w="25400">
            <a:solidFill>
              <a:srgbClr val="4DA3F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351776" y="2011680"/>
            <a:ext cx="1993392" cy="2377440"/>
          </a:xfrm>
          <a:prstGeom prst="roundRect">
            <a:avLst>
              <a:gd name="adj" fmla="val 4128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46720" y="2286000"/>
            <a:ext cx="603504" cy="603504"/>
          </a:xfrm>
          <a:prstGeom prst="ellipse">
            <a:avLst/>
          </a:prstGeom>
          <a:solidFill>
            <a:srgbClr val="FF5D5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046720" y="22860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7443216" y="301752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488936" y="342900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A* / D* Lite, multi-objective weights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354312" y="3200400"/>
            <a:ext cx="164592" cy="0"/>
          </a:xfrm>
          <a:prstGeom prst="line">
            <a:avLst/>
          </a:prstGeom>
          <a:noFill/>
          <a:ln w="25400">
            <a:solidFill>
              <a:srgbClr val="4DA3FF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528048" y="2011680"/>
            <a:ext cx="1993392" cy="2377440"/>
          </a:xfrm>
          <a:prstGeom prst="roundRect">
            <a:avLst>
              <a:gd name="adj" fmla="val 4128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222992" y="2286000"/>
            <a:ext cx="603504" cy="603504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222992" y="22860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9619488" y="301752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Visualize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665208" y="3429000"/>
            <a:ext cx="17190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operator dashboard, routes &amp; risk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22960" y="4892040"/>
            <a:ext cx="10515600" cy="1371600"/>
          </a:xfrm>
          <a:prstGeom prst="roundRect">
            <a:avLst>
              <a:gd name="adj" fmla="val 6000"/>
            </a:avLst>
          </a:prstGeom>
          <a:solidFill>
            <a:srgbClr val="1E2C49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1097280" y="5074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wins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97280" y="54406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planners run A* once. Ours re-optimizes every tick — </a:t>
            </a:r>
            <a:pPr indent="0" marL="0">
              <a:buNone/>
            </a:pPr>
            <a:r>
              <a:rPr lang="en-US" sz="1500" b="1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D* Lite repairs the plan in ~0 ms as conditions drift</a:t>
            </a:r>
            <a:pPr indent="0" marL="0">
              <a:buNone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ML forecast lets the UAV avoid a SAM </a:t>
            </a:r>
            <a:pPr indent="0" marL="0">
              <a:buNone/>
            </a:pPr>
            <a:r>
              <a:rPr lang="en-US" sz="1500" b="1" dirty="0">
                <a:solidFill>
                  <a:srgbClr val="33D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it even activates.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 · REAL-TIME RE-PLANNING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A* / D* Lite: replan for free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5943600" cy="4480560"/>
          </a:xfrm>
          <a:prstGeom prst="roundRect">
            <a:avLst>
              <a:gd name="adj" fmla="val 1837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2011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Operator-facing replan latency (10-tick mission)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914400" y="2468880"/>
          <a:ext cx="576072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040880" y="1828800"/>
            <a:ext cx="4297680" cy="1097280"/>
          </a:xfrm>
          <a:prstGeom prst="roundRect">
            <a:avLst>
              <a:gd name="adj" fmla="val 750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296912" y="2084832"/>
            <a:ext cx="146304" cy="146304"/>
          </a:xfrm>
          <a:prstGeom prst="ellipse">
            <a:avLst/>
          </a:prstGeom>
          <a:solidFill>
            <a:srgbClr val="33D17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543800" y="199339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Gradual drift (weather)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543800" y="23774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D* Lite repairs only affected cells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241280" y="21031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3D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~0 ms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7040880" y="3063240"/>
            <a:ext cx="4297680" cy="1097280"/>
          </a:xfrm>
          <a:prstGeom prst="roundRect">
            <a:avLst>
              <a:gd name="adj" fmla="val 750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296912" y="3319272"/>
            <a:ext cx="146304" cy="146304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543800" y="32278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 event (SAM pop-up)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543800" y="3611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A* replan, D* Lite re-warms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0" y="33375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5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~130 ms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7040880" y="4343400"/>
            <a:ext cx="4297680" cy="1965960"/>
          </a:xfrm>
          <a:prstGeom prst="roundRect">
            <a:avLst>
              <a:gd name="adj" fmla="val 4186"/>
            </a:avLst>
          </a:prstGeom>
          <a:solidFill>
            <a:srgbClr val="1E2C49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296912" y="4526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Correctness, not just speed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296912" y="4937760"/>
            <a:ext cx="3840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D* Lite is proven to return the </a:t>
            </a:r>
            <a:pPr indent="0" marL="0">
              <a:buNone/>
            </a:pPr>
            <a:r>
              <a:rPr lang="en-US" sz="1400" b="1" dirty="0">
                <a:solidFill>
                  <a:srgbClr val="33D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optimal cost as A*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(unit-tested). The planner adaptively picks the cheaper strategy each tick — honest engineering, not a one-size claim.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PREDICTION ACCURACY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trained models, beaten baselines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5074920" cy="4480560"/>
          </a:xfrm>
          <a:prstGeom prst="roundRect">
            <a:avLst>
              <a:gd name="adj" fmla="val 1837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9728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 nowcaster — PyTorch CNN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3774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the weather field 6 minutes ahead; learns the front's advection.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0632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33D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39.4%</a:t>
            </a:r>
            <a:endParaRPr lang="en-US" sz="6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069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RMSE than persistence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97280" y="4617720"/>
            <a:ext cx="4572000" cy="0"/>
          </a:xfrm>
          <a:prstGeom prst="line">
            <a:avLst/>
          </a:prstGeom>
          <a:noFill/>
          <a:ln w="12700">
            <a:solidFill>
              <a:srgbClr val="2A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(model)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389120" y="47548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0.029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5212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(persistence)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5212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0.049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5669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Trains on CPU in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56692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~15 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26480" y="1828800"/>
            <a:ext cx="5212080" cy="4480560"/>
          </a:xfrm>
          <a:prstGeom prst="roundRect">
            <a:avLst>
              <a:gd name="adj" fmla="val 1837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Air-defense activity — sklearn GBM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23774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Forecasts which SAM emits next; gain over persistence grows with horizon.</a:t>
            </a:r>
            <a:endParaRPr lang="en-US" sz="13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6263640" y="2926080"/>
          <a:ext cx="49377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6400800" y="59436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B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 pts accuracy · AUC 0.79 at 6-minute horizon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EFFICIENCY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Risk-aware routing around live threats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6400800" cy="4480560"/>
          </a:xfrm>
          <a:prstGeom prst="roundRect">
            <a:avLst>
              <a:gd name="adj" fmla="val 1837"/>
            </a:avLst>
          </a:prstGeom>
          <a:solidFill>
            <a:srgbClr val="0E1A30"/>
          </a:solidFill>
          <a:ln w="12700">
            <a:solidFill>
              <a:srgbClr val="2A3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95681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0A4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THEATRE · ALMATY REGION, KAZAKHSTAN (MOUNTAINOUS)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566160" y="3017520"/>
            <a:ext cx="2377440" cy="2377440"/>
          </a:xfrm>
          <a:prstGeom prst="ellipse">
            <a:avLst/>
          </a:prstGeom>
          <a:solidFill>
            <a:srgbClr val="FF5D5D">
              <a:alpha val="18000"/>
            </a:srgbClr>
          </a:solidFill>
          <a:ln w="19050">
            <a:solidFill>
              <a:srgbClr val="FF5D5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37360" y="4846320"/>
            <a:ext cx="1280160" cy="1280160"/>
          </a:xfrm>
          <a:prstGeom prst="ellipse">
            <a:avLst/>
          </a:prstGeom>
          <a:solidFill>
            <a:srgbClr val="FF5D5D">
              <a:alpha val="18000"/>
            </a:srgbClr>
          </a:solidFill>
          <a:ln w="19050">
            <a:solidFill>
              <a:srgbClr val="FF5D5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89120" y="40690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5D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(active)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463040" y="4206240"/>
            <a:ext cx="274320" cy="1554480"/>
          </a:xfrm>
          <a:prstGeom prst="line">
            <a:avLst/>
          </a:prstGeom>
          <a:noFill/>
          <a:ln w="38100">
            <a:solidFill>
              <a:srgbClr val="33D171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 flipH="1">
            <a:off x="1737360" y="2743200"/>
            <a:ext cx="1188720" cy="1463040"/>
          </a:xfrm>
          <a:prstGeom prst="line">
            <a:avLst/>
          </a:prstGeom>
          <a:noFill/>
          <a:ln w="38100">
            <a:solidFill>
              <a:srgbClr val="33D171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 flipH="1">
            <a:off x="2926080" y="2377440"/>
            <a:ext cx="2103120" cy="365760"/>
          </a:xfrm>
          <a:prstGeom prst="line">
            <a:avLst/>
          </a:prstGeom>
          <a:noFill/>
          <a:ln w="38100">
            <a:solidFill>
              <a:srgbClr val="33D171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5029200" y="2377440"/>
            <a:ext cx="1554480" cy="91440"/>
          </a:xfrm>
          <a:prstGeom prst="line">
            <a:avLst/>
          </a:prstGeom>
          <a:noFill/>
          <a:ln w="38100">
            <a:solidFill>
              <a:srgbClr val="33D171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362456" y="5660136"/>
            <a:ext cx="201168" cy="201168"/>
          </a:xfrm>
          <a:prstGeom prst="ellipse">
            <a:avLst/>
          </a:prstGeom>
          <a:solidFill>
            <a:srgbClr val="33D17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80160" y="587044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83096" y="2368296"/>
            <a:ext cx="201168" cy="201168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897880" y="210312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0" y="18288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 sets priorities; the optimizer returns three routes: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498080" y="2798064"/>
            <a:ext cx="457200" cy="0"/>
          </a:xfrm>
          <a:prstGeom prst="line">
            <a:avLst/>
          </a:prstGeom>
          <a:noFill/>
          <a:ln w="38100">
            <a:solidFill>
              <a:srgbClr val="4DA3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46720" y="2651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326880" y="26517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weights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498080" y="3364992"/>
            <a:ext cx="457200" cy="0"/>
          </a:xfrm>
          <a:prstGeom prst="line">
            <a:avLst/>
          </a:prstGeom>
          <a:noFill/>
          <a:ln w="38100">
            <a:solidFill>
              <a:srgbClr val="33D171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8046720" y="321868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Safest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326880" y="321868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safety-heavy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498080" y="3931920"/>
            <a:ext cx="457200" cy="0"/>
          </a:xfrm>
          <a:prstGeom prst="line">
            <a:avLst/>
          </a:prstGeom>
          <a:noFill/>
          <a:ln w="38100">
            <a:solidFill>
              <a:srgbClr val="F5B942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8046720" y="378561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Fastest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378561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time-heavy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498080" y="4572000"/>
            <a:ext cx="3840480" cy="1737360"/>
          </a:xfrm>
          <a:prstGeom prst="roundRect">
            <a:avLst>
              <a:gd name="adj" fmla="val 4737"/>
            </a:avLst>
          </a:prstGeom>
          <a:solidFill>
            <a:srgbClr val="1E2C49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726680" y="47091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route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726680" y="5074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detection risk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0" y="50749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3D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545896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time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0058400" y="545896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 min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726680" y="5843016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 risk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10058400" y="5843016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color-coded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 enforced: flight time · fuel · altitude band (100–3000 m; altitude scales radar exposure)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THE BASELINE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capabilities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3291840" cy="1874520"/>
          </a:xfrm>
          <a:prstGeom prst="roundRect">
            <a:avLst>
              <a:gd name="adj" fmla="val 439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7280" y="2176272"/>
            <a:ext cx="566928" cy="566928"/>
          </a:xfrm>
          <a:prstGeom prst="ellipse">
            <a:avLst/>
          </a:prstGeom>
          <a:solidFill>
            <a:srgbClr val="33D17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21762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22311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Terrain masking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88036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Real-relief DEM + radar line-of-sight viewsheds — the UAV hides behind ridges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1920240"/>
            <a:ext cx="3291840" cy="1874520"/>
          </a:xfrm>
          <a:prstGeom prst="roundRect">
            <a:avLst>
              <a:gd name="adj" fmla="val 439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2176272"/>
            <a:ext cx="566928" cy="566928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762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349240" y="22311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nap-of-earth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88036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Altitude is optimised (200 / 700 / 1500 m AGL); fly low for cover, climb only when needed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955280" y="1920240"/>
            <a:ext cx="3291840" cy="1874520"/>
          </a:xfrm>
          <a:prstGeom prst="roundRect">
            <a:avLst>
              <a:gd name="adj" fmla="val 439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0" y="2176272"/>
            <a:ext cx="566928" cy="566928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0" y="21762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915400" y="22311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Survival probability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288036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P(detected) from a hazard-rate model — 0.70 low vs 0.89 exposed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4069080"/>
            <a:ext cx="3291840" cy="1874520"/>
          </a:xfrm>
          <a:prstGeom prst="roundRect">
            <a:avLst>
              <a:gd name="adj" fmla="val 439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097280" y="4325112"/>
            <a:ext cx="566928" cy="566928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97280" y="43251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783080" y="437997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Pareto trade-offs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502920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time-vs-detection front, not three presets — operator picks the point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389120" y="4069080"/>
            <a:ext cx="3291840" cy="1874520"/>
          </a:xfrm>
          <a:prstGeom prst="roundRect">
            <a:avLst>
              <a:gd name="adj" fmla="val 439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4325112"/>
            <a:ext cx="566928" cy="566928"/>
          </a:xfrm>
          <a:prstGeom prst="ellipse">
            <a:avLst/>
          </a:prstGeom>
          <a:solidFill>
            <a:srgbClr val="33D17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63440" y="43251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349240" y="437997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 planning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4663440" y="502920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Optimise against the worst case of current + 6-min ML forecast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955280" y="4069080"/>
            <a:ext cx="3291840" cy="1874520"/>
          </a:xfrm>
          <a:prstGeom prst="roundRect">
            <a:avLst>
              <a:gd name="adj" fmla="val 439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229600" y="4325112"/>
            <a:ext cx="566928" cy="566928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229600" y="43251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915400" y="437997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builder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502920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map to place start, objective and waypoints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D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within the brief's objective — route optimisation under weather &amp; air-defense — and validated by 27 tests.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Architecture, stack &amp; security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291840" cy="2834640"/>
          </a:xfrm>
          <a:prstGeom prst="roundRect">
            <a:avLst>
              <a:gd name="adj" fmla="val 2903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7280" y="2057400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4DA3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2057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115568" y="2798064"/>
            <a:ext cx="91440" cy="91440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325880" y="27432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REST + WebSocket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115568" y="3255264"/>
            <a:ext cx="91440" cy="91440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325880" y="32004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 vectorized cost field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115568" y="3712464"/>
            <a:ext cx="91440" cy="91440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325880" y="36576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Per-session live missions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115568" y="4169664"/>
            <a:ext cx="91440" cy="91440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325880" y="41148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Stateless, shardable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389120" y="1828800"/>
            <a:ext cx="3291840" cy="2834640"/>
          </a:xfrm>
          <a:prstGeom prst="roundRect">
            <a:avLst>
              <a:gd name="adj" fmla="val 2903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2057400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33D17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663440" y="2057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81728" y="2798064"/>
            <a:ext cx="91440" cy="91440"/>
          </a:xfrm>
          <a:prstGeom prst="ellipse">
            <a:avLst/>
          </a:prstGeom>
          <a:solidFill>
            <a:srgbClr val="33D17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92040" y="27432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CNN nowcaster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81728" y="3255264"/>
            <a:ext cx="91440" cy="91440"/>
          </a:xfrm>
          <a:prstGeom prst="ellipse">
            <a:avLst/>
          </a:prstGeom>
          <a:solidFill>
            <a:srgbClr val="33D17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32004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GBM classifier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681728" y="3712464"/>
            <a:ext cx="91440" cy="91440"/>
          </a:xfrm>
          <a:prstGeom prst="ellipse">
            <a:avLst/>
          </a:prstGeom>
          <a:solidFill>
            <a:srgbClr val="33D17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92040" y="36576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+ D* Lite optimizer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681728" y="4169664"/>
            <a:ext cx="91440" cy="91440"/>
          </a:xfrm>
          <a:prstGeom prst="ellipse">
            <a:avLst/>
          </a:prstGeom>
          <a:solidFill>
            <a:srgbClr val="33D17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892040" y="41148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Multi-objective weighting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955280" y="1828800"/>
            <a:ext cx="3291840" cy="2834640"/>
          </a:xfrm>
          <a:prstGeom prst="roundRect">
            <a:avLst>
              <a:gd name="adj" fmla="val 2903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229600" y="2057400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F5B94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9600" y="2057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247888" y="2798064"/>
            <a:ext cx="91440" cy="91440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458200" y="27432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 operator dashboard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247888" y="3255264"/>
            <a:ext cx="91440" cy="91440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458200" y="32004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Danger heatmap + threat rings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247888" y="3712464"/>
            <a:ext cx="91440" cy="91440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458200" y="36576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sliders, live clock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247888" y="4169664"/>
            <a:ext cx="91440" cy="91440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458200" y="41148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Zero-build, one command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822960" y="4892040"/>
            <a:ext cx="10515600" cy="1371600"/>
          </a:xfrm>
          <a:prstGeom prst="roundRect">
            <a:avLst>
              <a:gd name="adj" fmla="val 6000"/>
            </a:avLst>
          </a:prstGeom>
          <a:solidFill>
            <a:srgbClr val="1E2C49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1097280" y="5074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(brief §7)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1097280" y="5440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auth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1097280" y="5760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hashed operator credential (PBKDF2)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526280" y="5440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/ Fernet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4526280" y="5760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of stored scenarios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7955280" y="5440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Env-var secrets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7955280" y="5760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plaintext keys in code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DA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· MAPPED TO JUDGING CRITERIA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0584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complete, working prototype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5074920" cy="914400"/>
          </a:xfrm>
          <a:prstGeom prst="roundRect">
            <a:avLst>
              <a:gd name="adj" fmla="val 900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78992" y="2487168"/>
            <a:ext cx="146304" cy="146304"/>
          </a:xfrm>
          <a:prstGeom prst="ellipse">
            <a:avLst/>
          </a:prstGeom>
          <a:solidFill>
            <a:srgbClr val="33D17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25880" y="22219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Prediction accuracy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5786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-39% weather RMSE · +22 pts AD (AUC 0.79)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2103120"/>
            <a:ext cx="5074920" cy="914400"/>
          </a:xfrm>
          <a:prstGeom prst="roundRect">
            <a:avLst>
              <a:gd name="adj" fmla="val 900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28232" y="2487168"/>
            <a:ext cx="146304" cy="146304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75120" y="22219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efficiency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25786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/ fuel / risk per route; detours keep risk ~7%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3154680"/>
            <a:ext cx="5074920" cy="914400"/>
          </a:xfrm>
          <a:prstGeom prst="roundRect">
            <a:avLst>
              <a:gd name="adj" fmla="val 900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078992" y="3538728"/>
            <a:ext cx="146304" cy="146304"/>
          </a:xfrm>
          <a:prstGeom prst="ellipse">
            <a:avLst/>
          </a:prstGeom>
          <a:solidFill>
            <a:srgbClr val="F5B9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325880" y="327355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6301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D* Lite + terrain-masking + 3D NOE + Pareto + robust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72200" y="3154680"/>
            <a:ext cx="5074920" cy="914400"/>
          </a:xfrm>
          <a:prstGeom prst="roundRect">
            <a:avLst>
              <a:gd name="adj" fmla="val 900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28232" y="3538728"/>
            <a:ext cx="146304" cy="146304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75120" y="327355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interface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36301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+ click-to-place mission builder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22960" y="4206240"/>
            <a:ext cx="5074920" cy="914400"/>
          </a:xfrm>
          <a:prstGeom prst="roundRect">
            <a:avLst>
              <a:gd name="adj" fmla="val 900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1078992" y="4590288"/>
            <a:ext cx="146304" cy="146304"/>
          </a:xfrm>
          <a:prstGeom prst="ellipse">
            <a:avLst/>
          </a:prstGeom>
          <a:solidFill>
            <a:srgbClr val="33D17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325880" y="43251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468172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+ architecture doc + 27 passing tests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72200" y="4206240"/>
            <a:ext cx="5074920" cy="914400"/>
          </a:xfrm>
          <a:prstGeom prst="roundRect">
            <a:avLst>
              <a:gd name="adj" fmla="val 9000"/>
            </a:avLst>
          </a:prstGeom>
          <a:solidFill>
            <a:srgbClr val="16223A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28232" y="4590288"/>
            <a:ext cx="146304" cy="146304"/>
          </a:xfrm>
          <a:prstGeom prst="ellipse">
            <a:avLst/>
          </a:prstGeom>
          <a:solidFill>
            <a:srgbClr val="4DA3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75120" y="43251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675120" y="468172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0A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API · vectorized · O(cells) optimizer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feeds → trained forecasts → risk field → adaptive optimizer → operator dashboard.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uvicorn backend.api.main:app  →  http://localhost:8017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2026-09-20T13:05:23Z</dcterms:created>
  <dcterms:modified xsi:type="dcterms:W3CDTF">2026-09-20T13:05:23Z</dcterms:modified>
</cp:coreProperties>
</file>